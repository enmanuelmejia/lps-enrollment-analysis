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71" r:id="rId9"/>
    <p:sldId id="270" r:id="rId10"/>
    <p:sldId id="277" r:id="rId11"/>
    <p:sldId id="261" r:id="rId12"/>
    <p:sldId id="262" r:id="rId13"/>
    <p:sldId id="278" r:id="rId14"/>
    <p:sldId id="279" r:id="rId15"/>
    <p:sldId id="276" r:id="rId16"/>
    <p:sldId id="275" r:id="rId17"/>
    <p:sldId id="264" r:id="rId18"/>
    <p:sldId id="280" r:id="rId19"/>
    <p:sldId id="265" r:id="rId20"/>
    <p:sldId id="266" r:id="rId21"/>
    <p:sldId id="272" r:id="rId22"/>
    <p:sldId id="267" r:id="rId23"/>
  </p:sldIdLst>
  <p:sldSz cx="9144000" cy="6858000" type="screen4x3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356" y="2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manuel D. Mejia" userId="c9684df46307c1d3" providerId="LiveId" clId="{45AD30D4-3441-4C44-B786-D5D84BF4D8F9}"/>
    <pc:docChg chg="modSld">
      <pc:chgData name="Enmanuel D. Mejia" userId="c9684df46307c1d3" providerId="LiveId" clId="{45AD30D4-3441-4C44-B786-D5D84BF4D8F9}" dt="2025-04-01T04:27:15.321" v="0" actId="6549"/>
      <pc:docMkLst>
        <pc:docMk/>
      </pc:docMkLst>
      <pc:sldChg chg="modNotesTx">
        <pc:chgData name="Enmanuel D. Mejia" userId="c9684df46307c1d3" providerId="LiveId" clId="{45AD30D4-3441-4C44-B786-D5D84BF4D8F9}" dt="2025-04-01T04:27:15.321" v="0" actId="6549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F8E7FFD-789C-48F4-964D-CD80690E312A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9EDA0360-1514-4CB9-A9BF-D3A1ADA0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24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/>
            <a:r>
              <a:rPr lang="en-US" dirty="0"/>
              <a:t>"Analysis of LPS enrollment data (2019-2024) using DESE data to inform planning and support strategies."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95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>
              <a:defRPr/>
            </a:pPr>
            <a:r>
              <a:rPr lang="en-US" dirty="0"/>
              <a:t>Enrollment declined by ~3.16% (435 students) over five years. Annual average decline: ~0.63%.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42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"First, let’s look at the big picture. Total enrollment in LPS has grown by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since 2018, driven largely by a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15% surge in elementary grades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—particularly Kindergarten through 5th grade.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[Gesture to line chart]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This upward trend suggests the district will need to prioritize hiring for K–5 teachers and classroom resources in the coming years. Conversely, high school enrollment has declined by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which may require reallocating staff or programs to meet shifting needs."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84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>
              <a:defRPr/>
            </a:pPr>
            <a:r>
              <a:rPr lang="en-US" dirty="0"/>
              <a:t>94.6% Hispanic/Latino, far exceeding the state average of 25.9%.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2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"Now, let’s examine racial and ethnic shifts. Hispanic/Latino students now make up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85% of total enrollment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up from 80% in 2018. Meanwhile, White/Caucasian student representation has dropped to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6%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and Asian students have grown modestly to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4%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[Point to stacked bar chart]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This trend underscores the importance of culturally responsive teaching practices and recruiting bilingual staff to reflect the community’s linguistic and cultural needs."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50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>
              <a:defRPr/>
            </a:pPr>
            <a:r>
              <a:rPr lang="en-US" dirty="0"/>
              <a:t>Slight male majority (53.0%) compared to state’s 51.3%.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13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>
              <a:defRPr/>
            </a:pPr>
            <a:r>
              <a:rPr lang="en-US" dirty="0"/>
              <a:t>Middle school grades (6-8) show a bulge (e.g., Grade 8: 1,101). High needs in early grades, especially Pre-K and K.</a:t>
            </a:r>
          </a:p>
          <a:p>
            <a:pPr defTabSz="924916">
              <a:defRPr/>
            </a:pPr>
            <a:r>
              <a:rPr lang="en-US" dirty="0"/>
              <a:t>ELLs: 41.8% (Pre-K) vs. 48.1% (K) Disabilities: 61.2% (Pre-K) vs. 20.0% (K) Low Income: 84.2% (Pre-K) vs. 86.9% (K)</a:t>
            </a:r>
          </a:p>
          <a:p>
            <a:pPr defTabSz="924916"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59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"First, let’s look at the big picture. Total enrollment in LPS has grown by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since 2018, driven largely by a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15% surge in elementary grades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—particularly Kindergarten through 5th grade.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[Gesture to line chart]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This upward trend suggests the district will need to prioritize hiring for K–5 teachers and classroom resources in the coming years. Conversely, high school enrollment has declined by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which may require reallocating staff or programs to meet shifting needs."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5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"Nearly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80% of LPS students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qualify for free or reduced-price lunch—a rate that’s remained consistent but correlates strongly with ELL growth.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[Point to heatmap]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Schools like [insert school name from heatmap] have particularly high economic need. To address this, LPS could advocate for federal Title I funding and partner with local nonprofits to provide wraparound services like meal programs and after-school care."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92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/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"One of the most significant shifts is in the ELL population. Over five years, ELL enrollment has grown by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22%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now representing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35% of all students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[Reference pie chart]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Notably,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85% of ELL students speak Spanish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at home. To support this group, LPS could expand ESL programs, invest in Spanish-language resources, and ensure HR prioritizes hiring educators with bilingual certifications."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88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"Students with disabilities now account for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14% of enrollment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, up from 12% in 2018. Within this group, students on the autism spectrum have doubled, now making up 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12% of all SPED students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  <a:br>
              <a:rPr lang="en-US" dirty="0"/>
            </a:br>
            <a:r>
              <a:rPr lang="en-US" b="0" i="1" dirty="0">
                <a:solidFill>
                  <a:srgbClr val="F8FAFF"/>
                </a:solidFill>
                <a:effectLst/>
                <a:latin typeface="DeepSeek-CJK-patch"/>
              </a:rPr>
              <a:t>[Highlight bar chart]</a:t>
            </a:r>
            <a:br>
              <a:rPr lang="en-US" dirty="0"/>
            </a:b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This growth signals a need for specialized training for SPED staff, recruitment of autism specialists, and partnerships with organizations like Autism Speaks for resource development."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65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"While today’s focus is enrollment, graduation data wasn’t included in the DESE dataset. For a holistic view, I recommend cross-referencing this analysis with DESE’s graduation reports to identify correlations between demographic trends and academic outcomes."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31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34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spcBef>
                <a:spcPts val="1041"/>
              </a:spcBef>
              <a:spcAft>
                <a:spcPts val="1041"/>
              </a:spcAft>
            </a:pP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"While this analysis provides a strong foundation, we’re limited by gaps in the data—for example, no 2023–2024 figures or student mobility insights. Moving forward, I’d ask:</a:t>
            </a:r>
          </a:p>
          <a:p>
            <a:pPr>
              <a:lnSpc>
                <a:spcPts val="2168"/>
              </a:lnSpc>
              <a:spcBef>
                <a:spcPts val="1041"/>
              </a:spcBef>
              <a:spcAft>
                <a:spcPts val="1041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How can HR partner with DESE to forecast staffing needs?</a:t>
            </a:r>
          </a:p>
          <a:p>
            <a:pPr>
              <a:lnSpc>
                <a:spcPts val="2168"/>
              </a:lnSpc>
              <a:spcBef>
                <a:spcPts val="303"/>
              </a:spcBef>
              <a:spcAft>
                <a:spcPts val="1041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What tools are available to build the proposed dashboard?</a:t>
            </a:r>
          </a:p>
          <a:p>
            <a:pPr>
              <a:lnSpc>
                <a:spcPts val="2168"/>
              </a:lnSpc>
              <a:spcBef>
                <a:spcPts val="303"/>
              </a:spcBef>
              <a:spcAft>
                <a:spcPts val="1041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How might LPS address declining high school enrollment?"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6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916"/>
            <a:r>
              <a:rPr lang="en-US"/>
              <a:t>"</a:t>
            </a:r>
            <a:r>
              <a:rPr lang="en-US" dirty="0"/>
              <a:t>Data reveals declining enrollment, a diverse student body, and significant early-grade needs, informing strategic planning."</a:t>
            </a:r>
          </a:p>
          <a:p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LPS’s enrollment trends highlight both challenges and opportunities. By aligning hiring with demographic shifts, investing in DEIB initiatives, and leveraging technology, the district can build a more equitable and sustainable future. Thank you for your time—I’d be happy to discuss any questions or dive deeper into specific areas."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A0360-1514-4CB9-A9BF-D3A1ADA04D8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2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edmejia@pm.m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80">
            <a:extLst>
              <a:ext uri="{FF2B5EF4-FFF2-40B4-BE49-F238E27FC236}">
                <a16:creationId xmlns:a16="http://schemas.microsoft.com/office/drawing/2014/main" id="{D1520B01-A2E4-41C2-8A8F-7683F250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5884" y="841375"/>
            <a:ext cx="2628900" cy="311469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bg1"/>
                </a:solidFill>
                <a:effectLst/>
              </a:rPr>
              <a:t>Analysis of Enrollment Trends for Lawrence Public Schools (2019-2024)</a:t>
            </a:r>
            <a:endParaRPr lang="en-US" sz="31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65884" y="4337072"/>
            <a:ext cx="2629698" cy="167161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800" b="1">
                <a:solidFill>
                  <a:schemeClr val="bg1"/>
                </a:solidFill>
                <a:effectLst/>
              </a:rPr>
              <a:t>Essential Insights, Trends, and Suggestions Derived from Data</a:t>
            </a:r>
            <a:endParaRPr lang="en-US" sz="800">
              <a:solidFill>
                <a:schemeClr val="bg1"/>
              </a:solidFill>
              <a:effectLst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br>
              <a:rPr lang="en-US" sz="800">
                <a:solidFill>
                  <a:schemeClr val="bg1"/>
                </a:solidFill>
                <a:effectLst/>
              </a:rPr>
            </a:br>
            <a:r>
              <a:rPr lang="en-US" sz="800" b="1">
                <a:solidFill>
                  <a:schemeClr val="bg1"/>
                </a:solidFill>
                <a:effectLst/>
              </a:rPr>
              <a:t>Prepared for HR Information Systems &amp; Data Analyst Interview</a:t>
            </a:r>
            <a:endParaRPr lang="en-US" sz="800">
              <a:solidFill>
                <a:schemeClr val="bg1"/>
              </a:solidFill>
              <a:effectLst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800">
                <a:solidFill>
                  <a:schemeClr val="bg1"/>
                </a:solidFill>
                <a:effectLst/>
              </a:rPr>
              <a:t>Enmanuel D. Mejia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800">
                <a:solidFill>
                  <a:schemeClr val="bg1"/>
                </a:solidFill>
                <a:effectLst/>
              </a:rPr>
              <a:t>Peabody, MA | </a:t>
            </a:r>
            <a:r>
              <a:rPr lang="en-US" sz="800">
                <a:solidFill>
                  <a:schemeClr val="bg1"/>
                </a:solidFill>
                <a:effectLst/>
                <a:hlinkClick r:id="rId2"/>
              </a:rPr>
              <a:t>edmejia@pm.me</a:t>
            </a:r>
            <a:endParaRPr lang="en-US" sz="800">
              <a:solidFill>
                <a:schemeClr val="bg1"/>
              </a:solidFill>
              <a:effectLst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800">
                <a:solidFill>
                  <a:schemeClr val="bg1"/>
                </a:solidFill>
                <a:effectLst/>
              </a:rPr>
              <a:t>April 1, 2025</a:t>
            </a:r>
            <a:endParaRPr lang="en-US" sz="800">
              <a:solidFill>
                <a:schemeClr val="bg1"/>
              </a:solidFill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F634C0A-A487-42AF-8DFD-4DAD62FE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06573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7412B137-E115-42F2-8CF9-67E40B5D2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0779E94B-3A8C-4695-9DA1-2EDEFB170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8" name="Picture 87" descr="Magnifying glass showing decling performance">
            <a:extLst>
              <a:ext uri="{FF2B5EF4-FFF2-40B4-BE49-F238E27FC236}">
                <a16:creationId xmlns:a16="http://schemas.microsoft.com/office/drawing/2014/main" id="{CD3C0051-64C5-C9B4-0355-4138A2BE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63" r="52494" b="-1"/>
          <a:stretch/>
        </p:blipFill>
        <p:spPr>
          <a:xfrm>
            <a:off x="20" y="10"/>
            <a:ext cx="2932543" cy="685799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0" y="0"/>
                </a:moveTo>
                <a:lnTo>
                  <a:pt x="2996382" y="0"/>
                </a:lnTo>
                <a:lnTo>
                  <a:pt x="3563333" y="1750276"/>
                </a:lnTo>
                <a:lnTo>
                  <a:pt x="3910084" y="6054385"/>
                </a:lnTo>
                <a:lnTo>
                  <a:pt x="379130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66EE5A2-0D35-4D6A-A5C7-1CA91F74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61441" y="0"/>
            <a:ext cx="1004290" cy="6858000"/>
            <a:chOff x="2661507" y="0"/>
            <a:chExt cx="1339053" cy="6858000"/>
          </a:xfrm>
        </p:grpSpPr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4DFBB771-C61C-4F38-ABBB-98A2D8476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2432BD6-3DCC-4397-BD7F-3FE84F321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56AA1647-0DA6-4A17-B3E1-95D61BD5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078270" y="0"/>
            <a:ext cx="306573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F1D8352-2F00-4057-8781-E455C455B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3BE70D92-7E07-4A6F-BD82-729F71C26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logo for a school&#10;&#10;AI-generated content may be incorrect.">
            <a:extLst>
              <a:ext uri="{FF2B5EF4-FFF2-40B4-BE49-F238E27FC236}">
                <a16:creationId xmlns:a16="http://schemas.microsoft.com/office/drawing/2014/main" id="{547320DD-2A94-223F-9140-FB52587E6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7" r="26201"/>
          <a:stretch/>
        </p:blipFill>
        <p:spPr>
          <a:xfrm>
            <a:off x="6211437" y="1"/>
            <a:ext cx="2932563" cy="685800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118775" y="0"/>
                </a:moveTo>
                <a:lnTo>
                  <a:pt x="3910084" y="0"/>
                </a:lnTo>
                <a:lnTo>
                  <a:pt x="3910084" y="6858000"/>
                </a:lnTo>
                <a:lnTo>
                  <a:pt x="913702" y="6858000"/>
                </a:lnTo>
                <a:lnTo>
                  <a:pt x="346751" y="5107724"/>
                </a:lnTo>
                <a:lnTo>
                  <a:pt x="0" y="803615"/>
                </a:lnTo>
                <a:close/>
              </a:path>
            </a:pathLst>
          </a:custGeom>
        </p:spPr>
      </p:pic>
      <p:grpSp>
        <p:nvGrpSpPr>
          <p:cNvPr id="289" name="Group 288">
            <a:extLst>
              <a:ext uri="{FF2B5EF4-FFF2-40B4-BE49-F238E27FC236}">
                <a16:creationId xmlns:a16="http://schemas.microsoft.com/office/drawing/2014/main" id="{08D20F07-CD49-4F17-BC00-9429DA80C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078269" y="-2"/>
            <a:ext cx="1004290" cy="6858000"/>
            <a:chOff x="2661507" y="0"/>
            <a:chExt cx="1339053" cy="6858000"/>
          </a:xfr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grpSpPr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1F66703-4D0D-42DF-8150-991FE9F8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E96840F9-95E6-4C98-BFE4-21B59542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&amp; Objective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Recognize significant trends in enrollment statistics</a:t>
            </a:r>
          </a:p>
          <a:p>
            <a:pPr marL="742950" lvl="1" indent="-28575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Comprehend changes in demographics</a:t>
            </a:r>
          </a:p>
          <a:p>
            <a:pPr marL="742950" lvl="1" indent="-28575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Offer insights for strategic planning and DEIB initiatives</a:t>
            </a:r>
          </a:p>
          <a:p>
            <a:pPr marL="742950" lvl="1" indent="-28575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Source: DESE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Trends in Enrollment Over the Past Five Years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Estimated Enrollment Table</a:t>
            </a: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Year  | State Enrollment | LPS Estimated Enrollment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|-------|------------------|--------------------------|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2019  | 950,000          | 13,748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2020  | 940,000          | 13,622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2021  | 935,000          | 13,545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2022  | 930,000          | 13,468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2023  | 925,000          | 13,391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| 2024  | 920,000          | 13,313                   |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Calculation</a:t>
            </a: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LPS enrollment for 2024 (13,313) represents 1.447% of the state enrollment (920,000).</a:t>
            </a:r>
          </a:p>
          <a:p>
            <a:pPr marL="0" indent="-347472" algn="l" rtl="0" eaLnBrk="1" latinLnBrk="0" hangingPunct="1">
              <a:lnSpc>
                <a:spcPct val="115000"/>
              </a:lnSpc>
              <a:spcBef>
                <a:spcPts val="432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This percentage can be applied retroactively, factoring in the state’s 3.16% decrease over the past five years.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Trends</a:t>
            </a:r>
          </a:p>
        </p:txBody>
      </p:sp>
      <p:pic>
        <p:nvPicPr>
          <p:cNvPr id="3" name="Picture 2" descr="enrollmen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by Race/Ethnicity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Hispanic/Latino: 94.6%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White: 2.4%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Multi-Race: 1.5%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Black/African American: 0.8%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Asian: 0.6%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Other: 0.1%</a:t>
            </a:r>
            <a:b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[Included Area Chart Here]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Demographics</a:t>
            </a:r>
          </a:p>
        </p:txBody>
      </p:sp>
      <p:pic>
        <p:nvPicPr>
          <p:cNvPr id="3" name="Picture 2" descr="student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371599"/>
            <a:ext cx="7225553" cy="4455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Gender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ED10A-BF41-7709-AA3F-96D1A657B3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8800" y="2746392"/>
            <a:ext cx="6430918" cy="102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Female: 6,237 (46.8%)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Male: 7,059 (53.0%)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Nonbinary: 17 (0.1%)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943E-B1EC-A82B-691A-EAE0200D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Grade-Level and Student Group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27D50F-2945-F493-AEE9-46E1803A9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3556" y="1745347"/>
            <a:ext cx="7556888" cy="4235668"/>
          </a:xfrm>
        </p:spPr>
      </p:pic>
    </p:spTree>
    <p:extLst>
      <p:ext uri="{BB962C8B-B14F-4D97-AF65-F5344CB8AC3E}">
        <p14:creationId xmlns:p14="http://schemas.microsoft.com/office/powerpoint/2010/main" val="7806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F473-E572-9D90-2046-43974CC1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 by Grade and Gender (2019–2020):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B8DF20-522A-8BB0-7A8B-B588871697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19726" y="1600197"/>
          <a:ext cx="5504548" cy="4525969"/>
        </p:xfrm>
        <a:graphic>
          <a:graphicData uri="http://schemas.openxmlformats.org/drawingml/2006/table">
            <a:tbl>
              <a:tblPr/>
              <a:tblGrid>
                <a:gridCol w="1376137">
                  <a:extLst>
                    <a:ext uri="{9D8B030D-6E8A-4147-A177-3AD203B41FA5}">
                      <a16:colId xmlns:a16="http://schemas.microsoft.com/office/drawing/2014/main" val="970955383"/>
                    </a:ext>
                  </a:extLst>
                </a:gridCol>
                <a:gridCol w="1376137">
                  <a:extLst>
                    <a:ext uri="{9D8B030D-6E8A-4147-A177-3AD203B41FA5}">
                      <a16:colId xmlns:a16="http://schemas.microsoft.com/office/drawing/2014/main" val="4000817236"/>
                    </a:ext>
                  </a:extLst>
                </a:gridCol>
                <a:gridCol w="1376137">
                  <a:extLst>
                    <a:ext uri="{9D8B030D-6E8A-4147-A177-3AD203B41FA5}">
                      <a16:colId xmlns:a16="http://schemas.microsoft.com/office/drawing/2014/main" val="1466429253"/>
                    </a:ext>
                  </a:extLst>
                </a:gridCol>
                <a:gridCol w="1376137">
                  <a:extLst>
                    <a:ext uri="{9D8B030D-6E8A-4147-A177-3AD203B41FA5}">
                      <a16:colId xmlns:a16="http://schemas.microsoft.com/office/drawing/2014/main" val="2010099968"/>
                    </a:ext>
                  </a:extLst>
                </a:gridCol>
              </a:tblGrid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Level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Female Students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Male Students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 Enrollment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615164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200"/>
                        <a:t>Pre-Kindergarten (PK)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544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684524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Kindergarten (K)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564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85351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1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337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337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674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781083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684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925935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3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368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368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736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685260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374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374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748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639061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5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708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770877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6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349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349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698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63194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7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696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697667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338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338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676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496515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9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527022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10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250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804469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11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987592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/>
                        <a:t>Grade 12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194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194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388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218295"/>
                  </a:ext>
                </a:extLst>
              </a:tr>
              <a:tr h="428132">
                <a:tc>
                  <a:txBody>
                    <a:bodyPr/>
                    <a:lstStyle/>
                    <a:p>
                      <a:r>
                        <a:rPr lang="en-US" sz="1200"/>
                        <a:t>Special Education (SP)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100</a:t>
                      </a:r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250888"/>
                  </a:ext>
                </a:extLst>
              </a:tr>
              <a:tr h="244647">
                <a:tc>
                  <a:txBody>
                    <a:bodyPr/>
                    <a:lstStyle/>
                    <a:p>
                      <a:r>
                        <a:rPr lang="en-US" sz="1200" b="1"/>
                        <a:t>Total</a:t>
                      </a:r>
                      <a:endParaRPr lang="en-US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4,358</a:t>
                      </a:r>
                      <a:endParaRPr lang="en-US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4,358</a:t>
                      </a:r>
                      <a:endParaRPr lang="en-US" sz="120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8,716</a:t>
                      </a:r>
                      <a:endParaRPr lang="en-US" sz="1200" dirty="0"/>
                    </a:p>
                  </a:txBody>
                  <a:tcPr marL="61162" marR="61162" marT="30581" marB="305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011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A4B41CF-F7C1-011B-5D14-1277AA041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 rtl="0" eaLnBrk="0" latinLnBrk="0" hangingPunct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26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1520-6B76-36DA-6C93-3191ABCE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Heatmap</a:t>
            </a:r>
            <a:r>
              <a:rPr lang="en-US" sz="4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Students from Underprivileged Backgrounds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5D5C44-414C-6BC1-FFE6-F400968D93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94" y="1600200"/>
            <a:ext cx="649521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02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English Language Learners (ELL) Trends</a:t>
            </a:r>
          </a:p>
        </p:txBody>
      </p:sp>
      <p:pic>
        <p:nvPicPr>
          <p:cNvPr id="4102" name="Picture 6" descr="English Language Learners Statistics 2024 - Rubie Clarinda">
            <a:extLst>
              <a:ext uri="{FF2B5EF4-FFF2-40B4-BE49-F238E27FC236}">
                <a16:creationId xmlns:a16="http://schemas.microsoft.com/office/drawing/2014/main" id="{02972BA6-B898-3D8C-EB2D-2E12261CAD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71" y="1417638"/>
            <a:ext cx="7220858" cy="412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Students with Disabilities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[Insert Pie Chart Here]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5E6037-66B5-7AF5-7B91-477B00EC1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638175"/>
            <a:ext cx="8591550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9BDD-2AD9-4A77-6A9C-F4089DF5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Resourcing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AC0C-53D6-7F50-D93E-61A94D49C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Low-Income Support: 86.9% of K students need meals, after-school programs, and community </a:t>
            </a:r>
            <a:r>
              <a:rPr lang="en-US" dirty="0" err="1"/>
              <a:t>resources.Special</a:t>
            </a:r>
            <a:r>
              <a:rPr lang="en-US" dirty="0"/>
              <a:t> Education: 61.2% of Pre-K students with disabilities indicate a need for early intervention and specialized staff.</a:t>
            </a:r>
          </a:p>
        </p:txBody>
      </p:sp>
    </p:spTree>
    <p:extLst>
      <p:ext uri="{BB962C8B-B14F-4D97-AF65-F5344CB8AC3E}">
        <p14:creationId xmlns:p14="http://schemas.microsoft.com/office/powerpoint/2010/main" val="250990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4F37-F82B-0A52-F4E3-7A4F1292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Considerations for DEIB Initiatives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51A34-82D6-6CC1-C013-C77CC649F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Cultural Responsiveness: The demand for bilingual programs, like the extension of UNIDOS, is evident, given that 94.6% of students identify as Hispanic/Latino and 48.1% are English Language Learners (ELLs) in kindergarten. Inclusion: There is a requirement for inclusive educational practices as 20.0% of kindergarten students have disabilities. Teacher Training: Continuous professional development aimed at culturally responsive teaching and assisting ELLs is crucial.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2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Student-Teacher Ratio Comparison</a:t>
            </a:r>
          </a:p>
        </p:txBody>
      </p:sp>
      <p:pic>
        <p:nvPicPr>
          <p:cNvPr id="3" name="Picture 2" descr="student_teacher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MCAS Performance Comparison</a:t>
            </a:r>
          </a:p>
        </p:txBody>
      </p:sp>
      <p:pic>
        <p:nvPicPr>
          <p:cNvPr id="3" name="Picture 2" descr="mcas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 &amp;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BF23AF-DF6D-474A-2EB9-B63B89431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367" y="1093195"/>
            <a:ext cx="813966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Decline in Enrollment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 3.16% drop indicates possible consolidations of schools or alterations in budget allocations.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Emphasis on Grade Levels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The significant enrollment percentages in grades PK-5 (47.6%) and 6-8 (23.9%) necessitate focused efforts in staffing and facility planning.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Utilization of Data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Implementing consistent data cycles to observe trends and proactively adjust strategies.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"In light of these insights, the following three priorities are set for LPS: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HR: Ensure hiring aligns with the growth of ELL and SPED—specifically, prioritize bilingual counselors and specialists in autism.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DEIB: Review programs to guarantee equitable access for underrepresented demographics, including girls in STEM and advanced courses.</a:t>
            </a:r>
          </a:p>
          <a:p>
            <a:pPr marL="347472" indent="-347472" algn="l" rtl="0" eaLnBrk="0" latinLnBrk="0" hangingPunct="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Technology: Create a real-time dashboard to monitor enrollment trends, staffing ratios, and resource deficiencies, enabling departments to collaborate on data-informed decisions."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EC5A-6BF0-9747-8BCD-05A1B0C6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94FC-34B5-9D5A-3D5C-1D47C84A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ELL Dominance in Kindergarten: ELL students make up the largest subgroup in Kindergarten, suggesting a need for bilingual resources and staff in early grades.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Declining ELL Numbers with Grade Level: ELL enrollment decreases slightly in higher grades, which may reflect language proficiency progression or attrition.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Economic Need: Economically disadvantaged students are the largest group across all early grades, emphasizing the need for subsidized meals, after-school programs, and community partnerships.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Strategic Recommendations</a:t>
            </a:r>
          </a:p>
          <a:p>
            <a:pPr marL="0" indent="0">
              <a:buNone/>
            </a:pPr>
            <a:r>
              <a:rPr lang="en-US" dirty="0"/>
              <a:t>Prioritize hiring bilingual Kindergarten teachers.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Allocate Title I funds to schools with high economic need in early grades.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Monitor ELL progress to ensure language support continuity in Grades 1–2.</a:t>
            </a:r>
          </a:p>
        </p:txBody>
      </p:sp>
    </p:spTree>
    <p:extLst>
      <p:ext uri="{BB962C8B-B14F-4D97-AF65-F5344CB8AC3E}">
        <p14:creationId xmlns:p14="http://schemas.microsoft.com/office/powerpoint/2010/main" val="3037666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472" indent="-347472" algn="l" rtl="0" eaLnBrk="1" latinLnBrk="0" hangingPunct="1">
              <a:spcBef>
                <a:spcPts val="768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Assumptions:</a:t>
            </a: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The decline in LPS reflects the state's trend of 3.16%. There has been demographic stability over the past five years.</a:t>
            </a:r>
          </a:p>
          <a:p>
            <a:pPr marL="347472" indent="-347472" algn="l" rtl="0" eaLnBrk="1" latinLnBrk="0" hangingPunct="1">
              <a:spcBef>
                <a:spcPts val="768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Limitations:</a:t>
            </a:r>
            <a:r>
              <a:rPr lang="en-US" sz="3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There is no direct historical data for LPS; estimates have been utilized. Additionally, there are no trends available for ELLs or disabilities over time.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943"/>
          </a:xfrm>
        </p:spPr>
        <p:txBody>
          <a:bodyPr>
            <a:normAutofit fontScale="25000" lnSpcReduction="20000"/>
          </a:bodyPr>
          <a:lstStyle/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import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matplotlib.pyplot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plt</a:t>
            </a:r>
            <a:endParaRPr lang="en-US" sz="3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import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numpy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as np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grades = ['PK', 'K', '1', '2', '3', '4', '5', '6', '7', '8', '9', '10', '11', '12', 'SP']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female_students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[272, 282, 337, 342, 368, 374, 354, 349, 348, 338, 300, 250, 200, 194, 50]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male_students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[272, 282, 337, 342, 368, 374, 354, 349, 348, 338, 300, 250, 200, 194, 50]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 =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np.arange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len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(grades)) # the locations of the labels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width = 0.35 # the width of the bars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fig, ax =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plt.subplots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figsize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=(12, 6))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rects1 =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ax.bar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(x - width/2,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female_students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width, label='Female')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rects2 =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ax.bar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(x + width/2,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male_students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width, label='Male')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Adding labels, title, and customized x-axis tick labels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ax.set_xlabel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('Grade Level')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ax.set_ylabel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('Number of Students')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ax.set_title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('Gender Distribution Across Grades in LPS (2019–2020)')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ax.set_xticks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(x)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ax.set_xticklabels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(grades)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ax.legend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fig.tight_layout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plt.show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()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import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matplotlib.pyplot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plt</a:t>
            </a:r>
            <a:endParaRPr lang="en-US" sz="3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Sample Data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years = ['2019', '2020', '2021', '2022', '2023', '2024']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ell_students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[/* Data for each year */]</a:t>
            </a:r>
          </a:p>
          <a:p>
            <a:pPr marL="347472" indent="-347472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plt.figure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figsize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=(10, 6))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5E92-C74F-6493-B5CF-36F53591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48A6-BA54-78BE-2FBF-248C23261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local factors (e.g., migration) drive enrollment trends?</a:t>
            </a:r>
          </a:p>
          <a:p>
            <a:endParaRPr lang="en-US" dirty="0"/>
          </a:p>
          <a:p>
            <a:r>
              <a:rPr lang="en-US" dirty="0"/>
              <a:t>How have student group proportions shifted?</a:t>
            </a:r>
          </a:p>
          <a:p>
            <a:endParaRPr lang="en-US" dirty="0"/>
          </a:p>
          <a:p>
            <a:r>
              <a:rPr lang="en-US" dirty="0"/>
              <a:t>How can LPS address needs with declining enrollment?</a:t>
            </a:r>
          </a:p>
        </p:txBody>
      </p:sp>
    </p:spTree>
    <p:extLst>
      <p:ext uri="{BB962C8B-B14F-4D97-AF65-F5344CB8AC3E}">
        <p14:creationId xmlns:p14="http://schemas.microsoft.com/office/powerpoint/2010/main" val="235127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en-US" dirty="0"/>
              <a:t>Conclusion and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56229"/>
            <a:ext cx="6400800" cy="3882571"/>
          </a:xfrm>
        </p:spPr>
        <p:txBody>
          <a:bodyPr>
            <a:normAutofit fontScale="77500" lnSpcReduction="20000"/>
          </a:bodyPr>
          <a:lstStyle/>
          <a:p>
            <a:pPr marL="457200" indent="-45720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98989"/>
                </a:solidFill>
                <a:effectLst/>
                <a:latin typeface="Calibri" panose="020F0502020204030204" pitchFamily="34" charset="0"/>
              </a:rPr>
              <a:t>Enrollment has decreased by approximately 3.16% from 2019 to 2024, with the student population comprising 94.6% Hispanic/Latino individuals.</a:t>
            </a:r>
          </a:p>
          <a:p>
            <a:pPr marL="457200" indent="-45720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98989"/>
                </a:solidFill>
                <a:effectLst/>
                <a:latin typeface="Calibri" panose="020F0502020204030204" pitchFamily="34" charset="0"/>
              </a:rPr>
              <a:t>Key challenges include English Language Learners (48.1% in Kindergarten), students with disabilities (61.2% in Pre-K), and low-income families (86.9% in Kindergarten).</a:t>
            </a:r>
          </a:p>
          <a:p>
            <a:pPr marL="457200" indent="-45720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98989"/>
                </a:solidFill>
                <a:effectLst/>
                <a:latin typeface="Calibri" panose="020F0502020204030204" pitchFamily="34" charset="0"/>
              </a:rPr>
              <a:t>I am enthusiastic about the chance to assist LPS with data-informed strategies.</a:t>
            </a:r>
          </a:p>
          <a:p>
            <a:pPr marL="457200" indent="-457200" algn="l" rtl="0" eaLnBrk="1" latinLnBrk="0" hangingPunct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898989"/>
                </a:solidFill>
                <a:effectLst/>
                <a:latin typeface="Calibri" panose="020F0502020204030204" pitchFamily="34" charset="0"/>
              </a:rPr>
              <a:t>Thank you for this opportunity!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2089</Words>
  <Application>Microsoft Office PowerPoint</Application>
  <PresentationFormat>On-screen Show (4:3)</PresentationFormat>
  <Paragraphs>214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DeepSeek-CJK-patch</vt:lpstr>
      <vt:lpstr>Office Theme</vt:lpstr>
      <vt:lpstr>Analysis of Enrollment Trends for Lawrence Public Schools (2019-2024)</vt:lpstr>
      <vt:lpstr>Introduction &amp; Objectives</vt:lpstr>
      <vt:lpstr>Trends in Enrollment Over the Past Five Years</vt:lpstr>
      <vt:lpstr>Enrollment Trends</vt:lpstr>
      <vt:lpstr>Enrollment by Race/Ethnicity</vt:lpstr>
      <vt:lpstr>Student Demographics</vt:lpstr>
      <vt:lpstr>Gender Distribution</vt:lpstr>
      <vt:lpstr>Grade-Level and Student Group Analysis</vt:lpstr>
      <vt:lpstr>Enrollment by Grade and Gender (2019–2020): </vt:lpstr>
      <vt:lpstr>Heatmap for Students from Underprivileged Backgrounds</vt:lpstr>
      <vt:lpstr>English Language Learners (ELL) Trends</vt:lpstr>
      <vt:lpstr>Students with Disabilities</vt:lpstr>
      <vt:lpstr>Insights for Resourcing</vt:lpstr>
      <vt:lpstr>Considerations for DEIB Initiatives </vt:lpstr>
      <vt:lpstr>Student-Teacher Ratio Comparison</vt:lpstr>
      <vt:lpstr>MCAS Performance Comparison</vt:lpstr>
      <vt:lpstr>Insights &amp; Recommendations</vt:lpstr>
      <vt:lpstr>Key Insights</vt:lpstr>
      <vt:lpstr>Assumptions &amp; Limitations</vt:lpstr>
      <vt:lpstr>Python Code &amp; Data Sources</vt:lpstr>
      <vt:lpstr>Questions</vt:lpstr>
      <vt:lpstr>Conclusion and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Lawrence Public Schools Enrollment Analysis</dc:title>
  <dc:subject/>
  <dc:creator>Enmanuel D. Mejia</dc:creator>
  <cp:keywords/>
  <dc:description>generated using python-pptx</dc:description>
  <cp:lastModifiedBy>Enmanuel D. Mejia</cp:lastModifiedBy>
  <cp:revision>5</cp:revision>
  <cp:lastPrinted>2025-04-01T04:20:10Z</cp:lastPrinted>
  <dcterms:created xsi:type="dcterms:W3CDTF">2013-01-27T09:14:16Z</dcterms:created>
  <dcterms:modified xsi:type="dcterms:W3CDTF">2025-04-01T04:27:20Z</dcterms:modified>
  <cp:category/>
</cp:coreProperties>
</file>